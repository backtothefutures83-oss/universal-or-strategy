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 type="wide"/>
  <p:notesSz cx="6858000" cy="9144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ableStyles" Target="tableStyles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>
          <a:latin typeface="Aptos Display"/>
          <a:ea typeface="Microsoft YaHei"/>
        </a:defRPr>
      </a:lvl1pPr>
    </p:titleStyle>
    <p:bodyStyle>
      <a:lvl1pPr algn="l">
        <a:defRPr sz="1800">
          <a:latin typeface="Aptos"/>
          <a:ea typeface="Microsoft YaHei"/>
        </a:defRPr>
      </a:lvl1pPr>
    </p:bodyStyle>
    <p:otherStyle>
      <a:lvl1pPr algn="l">
        <a:defRPr sz="1800">
          <a:latin typeface="Aptos"/>
          <a:ea typeface="Microsoft YaHe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85800" y="411480"/>
            <a:ext cx="98298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>
                <a:solidFill>
                  <a:srgbClr val="14532D"/>
                </a:solidFill>
                <a:latin typeface="Aptos Display"/>
                <a:ea typeface="Microsoft YaHei"/>
              </a:rPr>
              <a:t>Table Contract</a:t>
            </a:r>
            <a:endParaRPr lang="en-US" sz="3200"/>
          </a:p>
        </p:txBody>
      </p:sp>
      <p:graphicFrame>
        <p:nvGraphicFramePr>
          <p:cNvPr id="3" name="KPI Table"/>
          <p:cNvGraphicFramePr/>
          <p:nvPr/>
        </p:nvGraphicFramePr>
        <p:xfrm>
          <a:off x="914400" y="1371600"/>
          <a:ext cx="9144000" cy="2743200"/>
        </p:xfrm>
        <a:graphic>
          <a:graphicData uri="http://schemas.openxmlformats.org/drawingml/2006/table">
            <a:tbl>
              <a:tblPr firstRow="1" bandRow="1">
                <a:solidFill>
                  <a:srgbClr val="F8FAFC"/>
                </a:solidFill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85800">
                <a:tc>
                  <a:txBody>
                    <a:bodyPr anchor="ctr"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800"/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800"/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800"/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Renderer</a:t>
                      </a:r>
                      <a:endParaRPr lang="en-US" sz="1600"/>
                    </a:p>
                  </a:txBody>
                  <a:tcPr>
                    <a:solidFill>
                      <a:srgbClr val="DCFCE7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Green with merged span</a:t>
                      </a:r>
                      <a:endParaRPr lang="en-US" sz="1600"/>
                    </a:p>
                  </a:txBody>
                  <a:tcPr>
                    <a:solidFill>
                      <a:srgbClr val="F0F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Protocol</a:t>
                      </a:r>
                      <a:endParaRPr lang="en-US" sz="1600"/>
                    </a:p>
                  </a:txBody>
                  <a:tcPr>
                    <a:lnL w="12700">
                      <a:solidFill>
                        <a:srgbClr val="93C5FD"/>
                      </a:solidFill>
                    </a:lnL>
                    <a:lnR w="12700">
                      <a:solidFill>
                        <a:srgbClr val="93C5FD"/>
                      </a:solidFill>
                    </a:lnR>
                    <a:lnT w="12700">
                      <a:solidFill>
                        <a:srgbClr val="93C5FD"/>
                      </a:solidFill>
                    </a:lnT>
                    <a:lnB w="12700">
                      <a:solidFill>
                        <a:srgbClr val="93C5F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F172A"/>
                          </a:solidFill>
                        </a:rPr>
                        <a:t>Exact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166534"/>
                          </a:solidFill>
                        </a:rPr>
                        <a:t>100%</a:t>
                      </a:r>
                      <a:endParaRPr lang="en-US" sz="1600"/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outa Test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166534"/>
      </a:accent1>
      <a:accent2>
        <a:srgbClr val="2563EB"/>
      </a:accent2>
      <a:accent3>
        <a:srgbClr val="F97316"/>
      </a:accent3>
      <a:accent4>
        <a:srgbClr val="7C3AED"/>
      </a:accent4>
      <a:accent5>
        <a:srgbClr val="0891B2"/>
      </a:accent5>
      <a:accent6>
        <a:srgbClr val="BE123C"/>
      </a:accent6>
      <a:hlink>
        <a:srgbClr val="2563EB"/>
      </a:hlink>
      <a:folHlink>
        <a:srgbClr val="7C3AED"/>
      </a:folHlink>
    </a:clrScheme>
    <a:fontScheme name="Routa">
      <a:majorFont>
        <a:latin typeface="Aptos Display"/>
      </a:majorFont>
      <a:minorFont>
        <a:latin typeface="Aptos"/>
      </a:minorFont>
    </a:fontScheme>
    <a:fmtScheme name="Routa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