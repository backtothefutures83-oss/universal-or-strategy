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 type="wide"/>
  <p:notesSz cx="6858000" cy="9144000"/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tableStyles" Target="tableStyles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>
          <a:latin typeface="Aptos Display"/>
          <a:ea typeface="Microsoft YaHei"/>
        </a:defRPr>
      </a:lvl1pPr>
    </p:titleStyle>
    <p:bodyStyle>
      <a:lvl1pPr algn="l">
        <a:defRPr sz="1800">
          <a:latin typeface="Aptos"/>
          <a:ea typeface="Microsoft YaHei"/>
        </a:defRPr>
      </a:lvl1pPr>
    </p:bodyStyle>
    <p:otherStyle>
      <a:lvl1pPr algn="l">
        <a:defRPr sz="1800">
          <a:latin typeface="Aptos"/>
          <a:ea typeface="Microsoft YaHei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rt Node"/>
          <p:cNvSpPr/>
          <p:nvPr/>
        </p:nvSpPr>
        <p:spPr>
          <a:xfrm>
            <a:off x="914400" y="1371600"/>
            <a:ext cx="1828800" cy="91440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E3A8A"/>
                </a:solidFill>
              </a:rPr>
              <a:t>Start</a:t>
            </a:r>
            <a:endParaRPr lang="en-US" sz="1800"/>
          </a:p>
        </p:txBody>
      </p:sp>
      <p:sp>
        <p:nvSpPr>
          <p:cNvPr id="3" name="End Node"/>
          <p:cNvSpPr/>
          <p:nvPr/>
        </p:nvSpPr>
        <p:spPr>
          <a:xfrm>
            <a:off x="8230000" y="1371600"/>
            <a:ext cx="1828800" cy="914400"/>
          </a:xfrm>
          <a:prstGeom prst="ellipse">
            <a:avLst/>
          </a:prstGeom>
          <a:solidFill>
            <a:srgbClr val="DCFCE7"/>
          </a:solidFill>
          <a:ln w="19050">
            <a:solidFill>
              <a:srgbClr val="166534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800" b="1">
                <a:solidFill>
                  <a:srgbClr val="14532D"/>
                </a:solidFill>
              </a:rPr>
              <a:t>End</a:t>
            </a:r>
            <a:endParaRPr lang="en-US" sz="1800"/>
          </a:p>
        </p:txBody>
      </p:sp>
      <p:cxnSp>
        <p:nvCxnSpPr>
          <p:cNvPr id="4" name="Arrow Connector"/>
          <p:cNvCxnSpPr>
            <a:stCxn id="2" idx="0"/>
            <a:endCxn id="3" idx="0"/>
          </p:cNvCxnSpPr>
          <p:nvPr/>
        </p:nvCxnSpPr>
        <p:spPr>
          <a:xfrm>
            <a:off x="2743200" y="1828800"/>
            <a:ext cx="5486400" cy="0"/>
          </a:xfrm>
          <a:prstGeom prst="straightConnector1">
            <a:avLst/>
          </a:prstGeom>
          <a:ln w="38100" cap="sq">
            <a:solidFill>
              <a:srgbClr val="F97316"/>
            </a:solidFill>
            <a:prstDash val="solid"/>
            <a:tailEnd type="triangle" w="lg" len="lg"/>
            <a:headEnd type="oval" w="sm" len="sm"/>
          </a:ln>
        </p:spPr>
      </p:cxnSp>
      <p:grpSp>
        <p:nvGrpSpPr>
          <p:cNvPr id="5" name="Grouped KPI"/>
          <p:cNvGrpSpPr/>
          <p:nvPr/>
        </p:nvGrpSpPr>
        <p:grpSpPr>
          <a:xfrm>
            <a:off x="2743200" y="3657600"/>
            <a:ext cx="4572000" cy="1371600"/>
            <a:chOff x="0" y="0"/>
            <a:chExt cx="4572000" cy="1371600"/>
          </a:xfrm>
        </p:grpSpPr>
        <p:sp>
          <p:nvSpPr>
            <p:cNvPr id="6" name="Group Label"/>
            <p:cNvSpPr/>
            <p:nvPr/>
          </p:nvSpPr>
          <p:spPr>
            <a:xfrm>
              <a:off x="0" y="0"/>
              <a:ext cx="2743200" cy="685800"/>
            </a:xfrm>
            <a:prstGeom prst="rect">
              <a:avLst/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  <p:txBody>
            <a:bodyPr anchor="ctr"/>
            <a:lstStyle/>
            <a:p>
              <a:r>
                <a:rPr lang="en-US" sz="1600">
                  <a:solidFill>
                    <a:srgbClr val="0F172A"/>
                  </a:solidFill>
                </a:rPr>
                <a:t>Grouped</a:t>
              </a:r>
              <a:endParaRPr lang="en-US" sz="1600"/>
            </a:p>
          </p:txBody>
        </p:sp>
        <p:sp>
          <p:nvSpPr>
            <p:cNvPr id="7" name="Group Dot"/>
            <p:cNvSpPr/>
            <p:nvPr/>
          </p:nvSpPr>
          <p:spPr>
            <a:xfrm>
              <a:off x="3200400" y="228600"/>
              <a:ext cx="685800" cy="6858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Routa Test Them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166534"/>
      </a:accent1>
      <a:accent2>
        <a:srgbClr val="2563EB"/>
      </a:accent2>
      <a:accent3>
        <a:srgbClr val="F97316"/>
      </a:accent3>
      <a:accent4>
        <a:srgbClr val="7C3AED"/>
      </a:accent4>
      <a:accent5>
        <a:srgbClr val="0891B2"/>
      </a:accent5>
      <a:accent6>
        <a:srgbClr val="BE123C"/>
      </a:accent6>
      <a:hlink>
        <a:srgbClr val="2563EB"/>
      </a:hlink>
      <a:folHlink>
        <a:srgbClr val="7C3AED"/>
      </a:folHlink>
    </a:clrScheme>
    <a:fontScheme name="Routa">
      <a:majorFont>
        <a:latin typeface="Aptos Display"/>
      </a:majorFont>
      <a:minorFont>
        <a:latin typeface="Aptos"/>
      </a:minorFont>
    </a:fontScheme>
    <a:fmtScheme name="Routa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