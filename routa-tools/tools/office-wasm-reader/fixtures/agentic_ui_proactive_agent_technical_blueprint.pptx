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开场：这份方案把 Claude Design、Agentic UI 和主动式 Agent 分层。Claude Design 是设计时/原型层，Agentic UI 是运行时界面层，主动式 Agent 是感知、规划、执行的智能层。核心问题不是让 Agent 更自动，而是让自动化更有边界、更可解释、更可控。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这页给高层结论。技术方向不是先做“最聪明的 Agent”，而是先做能被用户理解和控制的主动系统。关键是把 Agent 的主动性变成产品系统：检测机会、判断打扰时机、生成可审阅计划、请求权限、执行、记录、复盘。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目标拆解为产品、技术、治理三类。主动式 Agent 最容易失败的原因是主动性不准、权限过大、执行不可见。成功标准必须同时覆盖效率、质量、用户信任、安全和打扰成本。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总架构是一个闭环：Signals 输入上下文；Opportunity Engine 把信号变成候选机会；Agent Runtime 规划；Governance Layer 决定能否执行或必须审批；Agentic UI 把意图、证据、计划和状态外显；Tool Runtime 执行并返回结果，最终进入审计、反馈和记忆更新。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设计时系统用于快速验证交互模式：建议卡、审批、活动轨迹、权限设置、记忆面板等。运行时系统则要与真实后端、任务队列、权限和审计系统连接。两者通过设计意图、组件规范和代码 handoff 连接。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主动性不等于让模型直接决定是否打扰用户。建议将主动循环拆成六段，尤其把机会评分和打扰策略从大模型生成中分离。Opportunity Score 可以由规则、轻量模型、LLM 分类器和业务指标组合而来。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Opportunity Engine 是主动式 Agent 的门控。建议建立候选机会表，对每个机会计算 Impact、Confidence、Urgency、UserFit、Risk、InterruptionCost。输出不是只有“提示/不提示”，而是选择交互渠道：抑制、收件箱、卡片、审批或自动执行。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上下文分层：实时事件、当前任务、长期用户画像、组织政策、审计记录和知识库。Context Composer 负责把这些上下文按任务最小化组装，并为 Agent 标注来源。避免把所有记忆长期放进模型；更适合用可审计的存储和检索机制。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运行时的核心是编排层，而不是某个模型。Orchestrator 管理目标和状态，Planner 生成计划，Critic/Verifier 做自检，Executor 负责工具调用，Tool Router 统一管理 MCP/API/浏览器/文件，Memory Manager 管理短期上下文和长期记忆。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工具层建议建立统一网关，而不是让 Agent 直接调用散乱工具。MCP 适合连接外部工具、数据库和 API，但要配合 OAuth scope pinning、allowlist/denylist、项目级/组织级配置、prompt injection 防护和输出限额。浏览器执行和文件/代码执行尤其需要沙箱与回滚。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权限阶梯是主动式 Agent 的产品和技术边界。建议把读、写、发送、删除、支付、发布等动作映射到不同等级。MVP 只做到 L3 审批执行，先避免 L4/L5 的长期自治风险。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强烈建议定义 Agentic UI Protocol。后端输出结构化事件，前端根据事件渲染组件。这样可以避免前端解析自然语言造成不稳定，也能让审批、审计、回滚和 A/B 实验变得工程化。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运行时需要一套标准 UI Surface。Suggestion Card 是主动建议的最小单位；Agent Inbox 管理非即时建议；Plan Preview 用于执行前协商；Activity Timeline 用于执行透明；Memory Center 用于记忆治理；Autonomy Settings 用于主动性配置。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安全页强调：Agent 不只是聊天机器人，而是有工具权限的软件系统。外部内容必须视为不可信输入；工具权限必须最小化；执行必须经过策略和 guardrail；敏感动作要人工审批；所有行为需要 trace 和 audit。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需要把 Agent 的每次运行作为 trace，记录 LLM、工具、guardrail、handoff 和用户决策。主动建议尤其要看 precision、acceptance、ignore、mute、edit distance 和 recovery。运营上需要 dashboard 和人工复盘机制。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数据模型建议基于事件溯源。Signal 进入 Opportunity，Opportunity 产生 Suggestion，Suggestion 可以生成 Plan，Plan 产生 ToolCall。Memory 和 Policy 是单独治理对象。AuditEvent 贯穿所有对象，用于重放、调试、合规和回滚。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 MVP 选择产品反馈助手：信号丰富、任务明确、风险可控。Agent 先读取反馈、CRM 和产品事件，发现集中的 onboarding 问题，生成建议卡，用户查看证据后批准生成 PRD 草稿或创建 ticket。真实写入系统之前必须审批。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路线图强调先设计后运行、先建议后执行、先审批后自动。Phase 0 建 Pattern Lab，Phase 1 做 MVP，Phase 2 打通工具执行，Phase 3 做学习系统和部分自动化。每一阶段都要有安全评审和指标复盘。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这页作为架构评审检查清单。上线前必须明确运行时、工具协议、打扰阈值、记忆治理、权限边界和评估闭环。最大的风险是把工具执行能力先上线，而 UI 解释和审批机制滞后。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参考资料页。后续如果进入正式评审，可以把这些来源转为脚注或内部知识库链接。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189720" y="594360"/>
            <a:ext cx="2331720" cy="2331720"/>
          </a:xfrm>
          <a:prstGeom prst="arc">
            <a:avLst/>
          </a:prstGeom>
          <a:solidFill>
            <a:srgbClr val="6E85FF">
              <a:alpha val="10000"/>
            </a:srgbClr>
          </a:solidFill>
          <a:ln w="13970">
            <a:solidFill>
              <a:srgbClr val="6E85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713232"/>
            <a:ext cx="1965960" cy="292608"/>
          </a:xfrm>
          <a:prstGeom prst="roundRect">
            <a:avLst>
              <a:gd name="adj" fmla="val 28125"/>
            </a:avLst>
          </a:prstGeom>
          <a:solidFill>
            <a:srgbClr val="1B2542"/>
          </a:solidFill>
          <a:ln w="12700">
            <a:solidFill>
              <a:srgbClr val="1B25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78181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2D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TECHNICAL BLUEPRINT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13232" y="1481328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主动式 Agentic UI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技术方案总览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Runtime × Context Engineering × Permission Governance × UI Orchestration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4005072"/>
            <a:ext cx="2395728" cy="1051560"/>
          </a:xfrm>
          <a:prstGeom prst="roundRect">
            <a:avLst>
              <a:gd name="adj" fmla="val 10435"/>
            </a:avLst>
          </a:prstGeom>
          <a:solidFill>
            <a:srgbClr val="121A33"/>
          </a:solidFill>
          <a:ln w="12700">
            <a:solidFill>
              <a:srgbClr val="2634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4005072"/>
            <a:ext cx="50292" cy="105156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14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Pattern Lab / 原型 / 评审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01568" y="4005072"/>
            <a:ext cx="2395728" cy="1051560"/>
          </a:xfrm>
          <a:prstGeom prst="roundRect">
            <a:avLst>
              <a:gd name="adj" fmla="val 10435"/>
            </a:avLst>
          </a:prstGeom>
          <a:solidFill>
            <a:srgbClr val="121A33"/>
          </a:solidFill>
          <a:ln w="12700">
            <a:solidFill>
              <a:srgbClr val="2634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4005072"/>
            <a:ext cx="50292" cy="105156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114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4434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UI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 / 计划 / 审批 / 轨迹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53328" y="4005072"/>
            <a:ext cx="2395728" cy="1051560"/>
          </a:xfrm>
          <a:prstGeom prst="roundRect">
            <a:avLst>
              <a:gd name="adj" fmla="val 10435"/>
            </a:avLst>
          </a:prstGeom>
          <a:solidFill>
            <a:srgbClr val="121A33"/>
          </a:solidFill>
          <a:ln w="12700">
            <a:solidFill>
              <a:srgbClr val="2634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3328" y="4005072"/>
            <a:ext cx="50292" cy="105156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114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4434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主动式 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 / 规划 / 工具调用 / 学习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7248" y="4526280"/>
            <a:ext cx="219456" cy="0"/>
          </a:xfrm>
          <a:prstGeom prst="line">
            <a:avLst/>
          </a:prstGeom>
          <a:noFill/>
          <a:ln w="1651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97296" y="4526280"/>
            <a:ext cx="237744" cy="0"/>
          </a:xfrm>
          <a:prstGeom prst="line">
            <a:avLst/>
          </a:prstGeom>
          <a:noFill/>
          <a:ln w="1651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49808" y="5870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E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目标：把“Agent 主动介入”从黑盒行为，变成可解释、可授权、可回滚的产品体验。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698480" y="6108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总体判断：技术方案应围绕“有边界的主动性”设计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将主动式 Agent 的行为拆成可感知、可解释、可授权、可追踪、可恢复的五层能力。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49808" y="1389888"/>
            <a:ext cx="438912" cy="438912"/>
          </a:xfrm>
          <a:prstGeom prst="ellipse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08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53312" y="14081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主动性不是通知更多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43400" y="1399032"/>
            <a:ext cx="6601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Opportunity Detector 先过滤信号，再通过 Relevance / Interruption Policy 决定是否打扰用户。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353312" y="1975104"/>
            <a:ext cx="9966960" cy="0"/>
          </a:xfrm>
          <a:prstGeom prst="line">
            <a:avLst/>
          </a:prstGeom>
          <a:noFill/>
          <a:ln w="6350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514600"/>
            <a:ext cx="438912" cy="438912"/>
          </a:xfrm>
          <a:prstGeom prst="ellipse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633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53312" y="25328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 是 Agent 的安全边界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2523744"/>
            <a:ext cx="6601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Preview、Permission Ladder、Approval Modal、Activity Timeline 是核心，不是装饰。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353312" y="3099816"/>
            <a:ext cx="9966960" cy="0"/>
          </a:xfrm>
          <a:prstGeom prst="line">
            <a:avLst/>
          </a:prstGeom>
          <a:noFill/>
          <a:ln w="6350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39312"/>
            <a:ext cx="438912" cy="438912"/>
          </a:xfrm>
          <a:prstGeom prst="ellipse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7581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53312" y="36576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工具层必须最小权限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3648456"/>
            <a:ext cx="6601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/ API / 浏览器 / 文件系统全部走权限策略、作用域、审计、速率与沙箱。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353312" y="4224528"/>
            <a:ext cx="9966960" cy="0"/>
          </a:xfrm>
          <a:prstGeom prst="line">
            <a:avLst/>
          </a:prstGeom>
          <a:noFill/>
          <a:ln w="6350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764024"/>
            <a:ext cx="438912" cy="438912"/>
          </a:xfrm>
          <a:prstGeom prst="ellipse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8828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53312" y="47823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长期任务要靠工作台维持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43400" y="4773168"/>
            <a:ext cx="6601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 list、progress file、trace、audit log、memory store 让 Agent 跨会话保持进度。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353312" y="5349240"/>
            <a:ext cx="9966960" cy="0"/>
          </a:xfrm>
          <a:prstGeom prst="line">
            <a:avLst/>
          </a:prstGeom>
          <a:noFill/>
          <a:ln w="6350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833872"/>
            <a:ext cx="10652760" cy="493776"/>
          </a:xfrm>
          <a:prstGeom prst="roundRect">
            <a:avLst>
              <a:gd name="adj" fmla="val 14815"/>
            </a:avLst>
          </a:prstGeom>
          <a:solidFill>
            <a:srgbClr val="EAFBF7"/>
          </a:solidFill>
          <a:ln w="8890">
            <a:solidFill>
              <a:srgbClr val="BFEF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998464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落地策略：先做低风险、高重复、可回滚的 MVP；再逐步打开自动执行与跨工具编排。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Claude Agent SDK / Claude Code MCP / OWASP LLM Top 10 / NIST AI RMF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设计目标与成功标准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主动式 Agent 技术方案既要解决任务效率，也要解决信任、风险和可运营性。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971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50292" cy="178308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27048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847088"/>
            <a:ext cx="2660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在用户未明确发问时识别机会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将建议沉淀为可执行计划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通过 UI 让用户快速理解与授权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417320"/>
            <a:ext cx="2971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1417320"/>
            <a:ext cx="50292" cy="178308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42232" y="1527048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技术目标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42232" y="1847088"/>
            <a:ext cx="2660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事件驱动的上下文感知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可插拔工具与 MCP/API 网关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细粒度权限、审计与回滚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23760" y="1417320"/>
            <a:ext cx="2971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1417320"/>
            <a:ext cx="50292" cy="178308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88352" y="1527048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治理目标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88352" y="1847088"/>
            <a:ext cx="2660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最小权限与敏感操作审批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Prompt Injection / Excessive Agency 防护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可追踪、可解释、可停用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成功指标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187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E8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1920240" y="4187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建议→完成任务的平均时间下降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498080" y="4187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≥30%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9052560" cy="0"/>
          </a:xfrm>
          <a:prstGeom prst="line">
            <a:avLst/>
          </a:prstGeom>
          <a:noFill/>
          <a:ln w="508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572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E8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920240" y="457200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建议被采纳或改写后采纳比例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498080" y="45720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≥50%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68680" y="4828032"/>
            <a:ext cx="9052560" cy="0"/>
          </a:xfrm>
          <a:prstGeom prst="line">
            <a:avLst/>
          </a:prstGeom>
          <a:noFill/>
          <a:ln w="508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956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E8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信任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1920240" y="4956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用户点击“为什么建议我”后的理解评分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498080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≥4/5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68680" y="5212080"/>
            <a:ext cx="9052560" cy="0"/>
          </a:xfrm>
          <a:prstGeom prst="line">
            <a:avLst/>
          </a:prstGeom>
          <a:noFill/>
          <a:ln w="5080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40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E8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920240" y="534009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未经授权敏感工具调用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498080" y="53400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68680" y="5596128"/>
            <a:ext cx="9052560" cy="0"/>
          </a:xfrm>
          <a:prstGeom prst="line">
            <a:avLst/>
          </a:prstGeom>
          <a:noFill/>
          <a:ln w="5080">
            <a:solidFill>
              <a:srgbClr val="D7DE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7241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E8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打扰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1920240" y="57241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主动建议被忽略/静音比例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498080" y="57241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持续下降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68680" y="5980176"/>
            <a:ext cx="9052560" cy="0"/>
          </a:xfrm>
          <a:prstGeom prst="line">
            <a:avLst/>
          </a:prstGeom>
          <a:noFill/>
          <a:ln w="5080">
            <a:solidFill>
              <a:srgbClr val="D7D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4069080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 MVP 定义成“全自动助手”；应定义成“能发现高质量机会，并以低摩擦方式推动用户审批和执行”。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Principle: bounded autonomy, explainability, progressive permission, auditability.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端到端系统架构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从信号感知到主动建议、授权执行、审计学习的闭环。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21A33"/>
          </a:solidFill>
          <a:ln w="12700">
            <a:solidFill>
              <a:srgbClr val="2838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50292" cy="228600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2704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Signals / Context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7512" y="1847088"/>
            <a:ext cx="1380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日历 · 邮件 · CRM · 产品事件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网页 · 文件 · 代码 · 用户偏好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12848" y="2560320"/>
            <a:ext cx="109728" cy="0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59152" y="141732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21A33"/>
          </a:solidFill>
          <a:ln w="12700">
            <a:solidFill>
              <a:srgbClr val="2838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1417320"/>
            <a:ext cx="50292" cy="228600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52704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Opportunity Engine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23744" y="1847088"/>
            <a:ext cx="1380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去重 · 聚类 · 重要性评分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打扰策略 · 时机判断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69080" y="2560320"/>
            <a:ext cx="109728" cy="0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15384" y="141732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21A33"/>
          </a:solidFill>
          <a:ln w="12700">
            <a:solidFill>
              <a:srgbClr val="2838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15384" y="1417320"/>
            <a:ext cx="50292" cy="228600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9976" y="152704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79976" y="1847088"/>
            <a:ext cx="1380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 · Executor · Critic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Manager · Tool Router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25312" y="2560320"/>
            <a:ext cx="109728" cy="0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71616" y="141732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21A33"/>
          </a:solidFill>
          <a:ln w="12700">
            <a:solidFill>
              <a:srgbClr val="2838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417320"/>
            <a:ext cx="50292" cy="228600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52704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Governance Layer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36208" y="1847088"/>
            <a:ext cx="1380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权限策略 · 风险分类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 · 沙箱 · 审计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781544" y="2560320"/>
            <a:ext cx="109728" cy="0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27848" y="141732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21A33"/>
          </a:solidFill>
          <a:ln w="12700">
            <a:solidFill>
              <a:srgbClr val="2838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27848" y="1417320"/>
            <a:ext cx="50292" cy="2286000"/>
          </a:xfrm>
          <a:prstGeom prst="rect">
            <a:avLst/>
          </a:prstGeom>
          <a:solidFill>
            <a:srgbClr val="8BE78B"/>
          </a:solidFill>
          <a:ln w="12700">
            <a:solidFill>
              <a:srgbClr val="8BE78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152704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UI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92440" y="1847088"/>
            <a:ext cx="1380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Suggestion Card · Agent Inbox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Preview · Activity Timeline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37776" y="2560320"/>
            <a:ext cx="109728" cy="0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84080" y="141732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21A33"/>
          </a:solidFill>
          <a:ln w="12700">
            <a:solidFill>
              <a:srgbClr val="2838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1417320"/>
            <a:ext cx="50292" cy="228600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48672" y="152704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 Runtime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48672" y="1847088"/>
            <a:ext cx="1380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· API · Browser · Files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任务队列 · 回滚 · Webhooks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710928" y="3977640"/>
            <a:ext cx="-7424928" cy="0"/>
          </a:xfrm>
          <a:prstGeom prst="line">
            <a:avLst/>
          </a:prstGeom>
          <a:noFill/>
          <a:ln w="13970">
            <a:solidFill>
              <a:srgbClr val="52D9B8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971800" y="413308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feedback: user action / trace / outcome / preference update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1051560" y="498348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6213F"/>
          </a:solidFill>
          <a:ln w="12700">
            <a:solidFill>
              <a:srgbClr val="2B3A6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" y="4983480"/>
            <a:ext cx="50292" cy="68580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16152" y="509320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设计时：Claude Design Pattern Lab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216152" y="541324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UI 模式、交互流和设计系统快速原型化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07408" y="498348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6213F"/>
          </a:solidFill>
          <a:ln w="12700">
            <a:solidFill>
              <a:srgbClr val="2B3A6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07408" y="4983480"/>
            <a:ext cx="50292" cy="68580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509320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工程时：Agent SDK / Service Mesh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0" y="541324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用可替换 SDK 承载规划、工具调用、会话与追踪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754112" y="498348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6213F"/>
          </a:solidFill>
          <a:ln w="12700">
            <a:solidFill>
              <a:srgbClr val="2B3A6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54112" y="4983480"/>
            <a:ext cx="50292" cy="68580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18704" y="509320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运行时：UI + Policy + Audit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918704" y="541324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每一次主动行为都留下原因、权限、状态和结果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Claude Design announcement; Claude Agent SDK; Claude Code MCP docs.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两套系统：设计时工作台 vs 运行时 Agentic UI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Design 不直接替代产品运行时，而是作为模式库和原型生成器嵌入研发流程。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93776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417320"/>
            <a:ext cx="493776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64208"/>
            <a:ext cx="1417320" cy="292608"/>
          </a:xfrm>
          <a:prstGeom prst="roundRect">
            <a:avLst>
              <a:gd name="adj" fmla="val 28125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73278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DESIGN-TIME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720840" y="1664208"/>
            <a:ext cx="1097280" cy="292608"/>
          </a:xfrm>
          <a:prstGeom prst="roundRect">
            <a:avLst>
              <a:gd name="adj" fmla="val 28125"/>
            </a:avLst>
          </a:prstGeom>
          <a:solidFill>
            <a:srgbClr val="3348B5"/>
          </a:solidFill>
          <a:ln w="12700">
            <a:solidFill>
              <a:srgbClr val="3348B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3992" y="173278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RUNTIME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960120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Design / Pattern Lab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Proactive Agentic UI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4251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生成 Suggestion Card、Plan Preview、Agent Inbox 等模式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把交互流做成可点击原型，服务评审与用户测试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沉淀设计系统、文案规范、风险状态组件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交给 Claude Code / 前端团队实现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720840" y="2788920"/>
            <a:ext cx="4251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承载实时/异步 Agent 意图、证据与计划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接收审批、编辑、接管、回滚等用户操作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展示工具调用、执行进度、异常与审计记录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把用户反馈写回策略和记忆系统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715000" y="3520440"/>
            <a:ext cx="685800" cy="0"/>
          </a:xfrm>
          <a:prstGeom prst="line">
            <a:avLst/>
          </a:prstGeom>
          <a:noFill/>
          <a:ln w="1778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0120" y="55595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落地原则：把 Claude Design 当作“Agentic UI 设计编译器”，而不是最终运行系统。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Design supports prototypes, slides, PPTX/HTML export and handoff to Claude Code.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主动式 Agent 的核心循环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把“主动”拆成 6 个可工程化的阶段，而不是直接让 Agent 自动行动。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50292" cy="114300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385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Sense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50392" y="225856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收集信号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事件流 / 连接器 / 用户状态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276856" y="2395728"/>
            <a:ext cx="256032" cy="0"/>
          </a:xfrm>
          <a:prstGeom prst="line">
            <a:avLst/>
          </a:prstGeom>
          <a:noFill/>
          <a:ln w="1397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1828800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828800"/>
            <a:ext cx="50292" cy="114300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9385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2724912" y="225856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筛选机会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重要性 × 置信度 × 时机 × 风险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151376" y="2395728"/>
            <a:ext cx="256032" cy="0"/>
          </a:xfrm>
          <a:prstGeom prst="line">
            <a:avLst/>
          </a:prstGeom>
          <a:noFill/>
          <a:ln w="1397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34840" y="1828800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828800"/>
            <a:ext cx="50292" cy="114300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9385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Suggest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599432" y="225856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提出建议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证据、理由、影响、可选行动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025896" y="2395728"/>
            <a:ext cx="256032" cy="0"/>
          </a:xfrm>
          <a:prstGeom prst="line">
            <a:avLst/>
          </a:prstGeom>
          <a:noFill/>
          <a:ln w="1397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1828800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828800"/>
            <a:ext cx="50292" cy="114300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19385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Negotiate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473952" y="225856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协商权限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计划预览、审批、降低权限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7900416" y="2395728"/>
            <a:ext cx="256032" cy="0"/>
          </a:xfrm>
          <a:prstGeom prst="line">
            <a:avLst/>
          </a:prstGeom>
          <a:noFill/>
          <a:ln w="1397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83880" y="1828800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50292" cy="114300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8472" y="19385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348472" y="225856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执行任务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工具调用、进度、异常处理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9774936" y="2395728"/>
            <a:ext cx="256032" cy="0"/>
          </a:xfrm>
          <a:prstGeom prst="line">
            <a:avLst/>
          </a:prstGeom>
          <a:noFill/>
          <a:ln w="1397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0" y="1828800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0" y="1828800"/>
            <a:ext cx="50292" cy="1143000"/>
          </a:xfrm>
          <a:prstGeom prst="rect">
            <a:avLst/>
          </a:prstGeom>
          <a:solidFill>
            <a:srgbClr val="8BE78B"/>
          </a:solidFill>
          <a:ln w="12700">
            <a:solidFill>
              <a:srgbClr val="8BE78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22992" y="19385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10222992" y="225856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学习反馈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采纳/忽略/编辑 → 记忆与策略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960120" y="388620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0F5FF"/>
          </a:solidFill>
          <a:ln w="12700">
            <a:solidFill>
              <a:srgbClr val="C9D6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" y="3886200"/>
            <a:ext cx="50292" cy="105156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4712" y="399592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Interruption Policy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24712" y="43159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基于用户当前状态、历史偏好、业务优先级与风险等级决定呈现方式。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4434840" y="388620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0FFF9"/>
          </a:solidFill>
          <a:ln w="12700">
            <a:solidFill>
              <a:srgbClr val="C1EF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4840" y="3886200"/>
            <a:ext cx="50292" cy="105156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9432" y="399592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 Negotiation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99432" y="43159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用户可以查看证据、编辑计划、降低权限、延后、忽略或关闭此类建议。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7909560" y="388620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7EA"/>
          </a:solidFill>
          <a:ln w="12700">
            <a:solidFill>
              <a:srgbClr val="F4D39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09560" y="3886200"/>
            <a:ext cx="50292" cy="105156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74152" y="399592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Loop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074152" y="43159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把采纳、忽略、修改、失败和回滚写回评分阈值、记忆与评估集。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2423160" y="2999232"/>
            <a:ext cx="0" cy="859536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897880" y="2999232"/>
            <a:ext cx="0" cy="859536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372600" y="2999232"/>
            <a:ext cx="0" cy="859536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77240" y="5650992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技术关键：Score 阶段必须独立于生成模型；它应是可调参、可解释、可 A/B 测试的决策函数。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Pattern: sense → score → suggest → negotiate → act → learn.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Opportunity Engine：主动介入的技术判定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核心不是“能发现什么”，而是“什么值得现在告诉用户”。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822960" y="1353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Opportunity Score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810512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0F5FF"/>
          </a:solidFill>
          <a:ln w="12700">
            <a:solidFill>
              <a:srgbClr val="CFD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 = Impact × Confidence × Urgency × UserFit − Risk − InterruptionCost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5989320" y="141732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417320"/>
            <a:ext cx="50292" cy="109728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152704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Impact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53912" y="1847088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潜在收益或损失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客户流失、收入、项目延期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7772400" y="141732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1417320"/>
            <a:ext cx="50292" cy="109728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152704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36992" y="1847088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证据强度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多源信号一致、历史相似案例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9555480" y="141732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5480" y="1417320"/>
            <a:ext cx="50292" cy="109728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152704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Urgency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20072" y="1847088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时效性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截止时间、窗口期、风险增长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5989320" y="283464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2834640"/>
            <a:ext cx="50292" cy="109728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29443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UserFit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53912" y="3264408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用户偏好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用户常处理、已授权、当前上下文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7772400" y="283464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2834640"/>
            <a:ext cx="5029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36992" y="29443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36992" y="3264408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执行风险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敏感数据、不可逆操作、合规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9555480" y="283464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55480" y="2834640"/>
            <a:ext cx="50292" cy="109728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0072" y="294436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20072" y="3264408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打扰成本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正在开会、低优先级、频繁提示</a:t>
            </a:r>
            <a:endParaRPr lang="en-US" sz="690" dirty="0"/>
          </a:p>
        </p:txBody>
      </p:sp>
      <p:sp>
        <p:nvSpPr>
          <p:cNvPr id="32" name="Text 30"/>
          <p:cNvSpPr/>
          <p:nvPr/>
        </p:nvSpPr>
        <p:spPr>
          <a:xfrm>
            <a:off x="82296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决策输出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68680" y="4315968"/>
            <a:ext cx="1645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4315968"/>
            <a:ext cx="50292" cy="713232"/>
          </a:xfrm>
          <a:prstGeom prst="rect">
            <a:avLst/>
          </a:prstGeom>
          <a:solidFill>
            <a:srgbClr val="AEB8D2"/>
          </a:solidFill>
          <a:ln w="12700">
            <a:solidFill>
              <a:srgbClr val="AEB8D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" y="442569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抑制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3272" y="4745736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不提示，只记录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2532888" y="4672584"/>
            <a:ext cx="301752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880360" y="4315968"/>
            <a:ext cx="1645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4315968"/>
            <a:ext cx="50292" cy="713232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44952" y="442569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收件箱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044952" y="4745736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 Agent Inbox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4544568" y="4672584"/>
            <a:ext cx="301752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892040" y="4315968"/>
            <a:ext cx="1645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4315968"/>
            <a:ext cx="50292" cy="713232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56632" y="442569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卡片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56632" y="4745736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上下文内提示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6556248" y="4672584"/>
            <a:ext cx="301752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903720" y="4315968"/>
            <a:ext cx="1645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4315968"/>
            <a:ext cx="50292" cy="713232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68312" y="442569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68312" y="4745736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生成计划并请求授权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8567928" y="4672584"/>
            <a:ext cx="301752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915400" y="4315968"/>
            <a:ext cx="1645920" cy="713232"/>
          </a:xfrm>
          <a:prstGeom prst="roundRect">
            <a:avLst>
              <a:gd name="adj" fmla="val 15385"/>
            </a:avLst>
          </a:prstGeom>
          <a:solidFill>
            <a:srgbClr val="FFF8E8"/>
          </a:solidFill>
          <a:ln w="12700">
            <a:solidFill>
              <a:srgbClr val="F1D29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15400" y="4315968"/>
            <a:ext cx="50292" cy="713232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79992" y="442569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079992" y="4745736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低风险条件内执行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868680" y="562356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实现建议：先用可解释规则 + LLM 分类器混合；成熟后再引入学习排序和用户级主动性阈值。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Engineering note: keep scoring auditable and tunable outside the generative response.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&amp; Memory：让 Agent 主动但不越界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上下文工程决定 Agent 看见什么；记忆治理决定 Agent 可以长期记住什么。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736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50292" cy="100584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52704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Event Context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41832" y="184708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实时信号：邮件、会议、CRM、产品事件、浏览器状态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736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50292" cy="100584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8529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 Context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41832" y="317296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当前任务、计划、草稿、工具结果、用户编辑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777240" y="406908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736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69080"/>
            <a:ext cx="50292" cy="100584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1788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Profile Memory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1832" y="449884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偏好、角色、项目、常用流程、禁忌与权限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4572000" y="1920240"/>
            <a:ext cx="3017520" cy="2651760"/>
          </a:xfrm>
          <a:prstGeom prst="roundRect">
            <a:avLst>
              <a:gd name="adj" fmla="val 4138"/>
            </a:avLst>
          </a:prstGeom>
          <a:solidFill>
            <a:srgbClr val="16213F"/>
          </a:solidFill>
          <a:ln w="12700">
            <a:solidFill>
              <a:srgbClr val="2E40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920240"/>
            <a:ext cx="50292" cy="265176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02996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Composer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36592" y="2350008"/>
            <a:ext cx="27066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信号归一化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去重与窗口化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检索相关资料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组装最小上下文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标注来源与可信度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15400" y="141732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736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1417320"/>
            <a:ext cx="50292" cy="1005840"/>
          </a:xfrm>
          <a:prstGeom prst="rect">
            <a:avLst/>
          </a:prstGeom>
          <a:solidFill>
            <a:srgbClr val="8BE78B"/>
          </a:solidFill>
          <a:ln w="12700">
            <a:solidFill>
              <a:srgbClr val="8BE78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152704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 / 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79992" y="184708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文件、知识库、历史记录；必要时用语义检索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8915400" y="274320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736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2743200"/>
            <a:ext cx="50292" cy="100584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9992" y="28529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Policy Memory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79992" y="317296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允许工具、审批规则、自动执行范围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8915400" y="4069080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736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15400" y="4069080"/>
            <a:ext cx="50292" cy="100584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9992" y="41788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 Memory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79992" y="449884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建议、计划、工具调用、用户决策、结果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3145536" y="1920240"/>
            <a:ext cx="1380744" cy="749808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145536" y="3246120"/>
            <a:ext cx="1380744" cy="0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145536" y="4572000"/>
            <a:ext cx="1380744" cy="-713232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635240" y="2670048"/>
            <a:ext cx="1234440" cy="-749808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635240" y="3246120"/>
            <a:ext cx="1234440" cy="0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635240" y="3858768"/>
            <a:ext cx="1234440" cy="713232"/>
          </a:xfrm>
          <a:prstGeom prst="line">
            <a:avLst/>
          </a:prstGeom>
          <a:noFill/>
          <a:ln w="1524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77240" y="580644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8E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治理原则：长期记忆必须可查看、可编辑、可删除；敏感上下文默认短期、最小化、按需提取。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Claude Agent SDK context engineering; long-running agent harness.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Runtime：可替换的编排内核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把大模型调用包在可测试、可治理、可追踪的运行时中。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2011680" y="1920240"/>
            <a:ext cx="1920240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15000" y="1920240"/>
            <a:ext cx="1920240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15000" y="3291840"/>
            <a:ext cx="1920240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77640" y="2240280"/>
            <a:ext cx="0" cy="73152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77640" y="3291840"/>
            <a:ext cx="0" cy="749808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15000" y="4041648"/>
            <a:ext cx="1920240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14630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463040"/>
            <a:ext cx="50292" cy="91440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57276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189280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会话、目标、状态机、子任务路由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931920" y="14630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463040"/>
            <a:ext cx="50292" cy="91440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157276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96512" y="189280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生成计划、依赖、风险与权限请求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931920" y="28346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2834640"/>
            <a:ext cx="50292" cy="91440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294436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Critic / Verifier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96512" y="326440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自检、事实核验、E2E 测试、结果评分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931920" y="448056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4480560"/>
            <a:ext cx="50292" cy="91440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6512" y="459028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Manager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96512" y="491032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读取/更新记忆、上下文压缩、进度文件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635240" y="146304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1463040"/>
            <a:ext cx="50292" cy="91440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9832" y="15727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99832" y="1892808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调用工具、处理错误、重试与回滚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635240" y="283464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35240" y="2834640"/>
            <a:ext cx="50292" cy="914400"/>
          </a:xfrm>
          <a:prstGeom prst="rect">
            <a:avLst/>
          </a:prstGeom>
          <a:solidFill>
            <a:srgbClr val="8BE78B"/>
          </a:solidFill>
          <a:ln w="12700">
            <a:solidFill>
              <a:srgbClr val="8BE78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9832" y="29443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 Router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99832" y="3264408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MCP/API/Browser/Files 的统一入口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7635240" y="448056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5240" y="4480560"/>
            <a:ext cx="50292" cy="91440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9832" y="459028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Subagents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99832" y="4910328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搜索、分析、风控、前端实现并行化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996696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建议技术路线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66960" y="1783080"/>
            <a:ext cx="1783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Claude Agent SDK / OpenAI Agents SDK 均可作为运行时参考</a:t>
            </a:r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核心抽象不要绑定单模型：Agent、Tool、Policy、Trace、Memory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复杂任务通过 subagents / handoffs / task queue 拆分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所有输出都转成 UI Protocol 事件流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Claude Agent SDK supports tools, subagents and context management; OpenAI Agents SDK supports guardrails/tracing.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 Runtime：MCP / API / Browser 的统一工具网关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工具调用是主动式 Agent 最大的价值来源，也是最大的风险来源。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50292" cy="114300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1755648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第三方/内部工具、数据库、项目管理、监控、CRM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566160" y="132588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325880"/>
            <a:ext cx="50292" cy="114300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30752" y="1755648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OAuth、Token、速率限制、审计、Scope pinning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325880"/>
            <a:ext cx="50292" cy="114300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Browser Runtime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1755648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网页观察、表单操作、点击/填充/截屏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44000" y="132588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1325880"/>
            <a:ext cx="50292" cy="114300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File / Code Runtime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08592" y="1755648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文件系统、代码库、测试、Patch、PR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063240" y="3063240"/>
            <a:ext cx="6309360" cy="1051560"/>
          </a:xfrm>
          <a:prstGeom prst="roundRect">
            <a:avLst>
              <a:gd name="adj" fmla="val 10435"/>
            </a:avLst>
          </a:prstGeom>
          <a:solidFill>
            <a:srgbClr val="F0F5FF"/>
          </a:solidFill>
          <a:ln w="12700">
            <a:solidFill>
              <a:srgbClr val="C9D6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3063240"/>
            <a:ext cx="50292" cy="105156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3172968"/>
            <a:ext cx="6016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 Policy Gateway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27832" y="3493008"/>
            <a:ext cx="5998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工具注册表 · 允许/拒绝规则 · 权限级别 · 输入/输出 Guardrails · 审批触发 · 沙箱 · 审计日志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938528" y="2487168"/>
            <a:ext cx="4187952" cy="576072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27448" y="2487168"/>
            <a:ext cx="1399032" cy="576072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16368" y="2487168"/>
            <a:ext cx="-1389888" cy="576072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05288" y="2487168"/>
            <a:ext cx="-4178808" cy="576072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143000" y="4846320"/>
            <a:ext cx="29260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4846320"/>
            <a:ext cx="5029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07592" y="495604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Before Tool Use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07592" y="527608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权限检查、PII 检测、Prompt Injection 检测、风险评分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709160" y="4846320"/>
            <a:ext cx="29260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4846320"/>
            <a:ext cx="50292" cy="82296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495604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During Execution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73752" y="527608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超时、重试、幂等键、事务、速率限制、用户接管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275320" y="4846320"/>
            <a:ext cx="29260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0" y="4846320"/>
            <a:ext cx="50292" cy="82296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9912" y="495604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Tool Use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39912" y="527608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输出校验、结果摘要、审计、回滚点、记忆更新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096512" y="5257800"/>
            <a:ext cx="566928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662672" y="5257800"/>
            <a:ext cx="566928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 MCP docs describe tools/resources/prompts, OAuth scopes, channels, managed MCP config and prompt-injection risk.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Autonomy &amp; Permission Ladder：逐级开放主动性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从观察、建议、起草到审批执行和条件自动执行，每一层都有明确 UI 与技术边界。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默认策略：MVP 只开放 L0–L3；L4 仅限低风险、可回滚、用户显式配置的重复流程。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AEB8D2"/>
          </a:solidFill>
          <a:ln w="12700">
            <a:solidFill>
              <a:srgbClr val="AEB8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842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25880" y="1783080"/>
            <a:ext cx="10012680" cy="658368"/>
          </a:xfrm>
          <a:prstGeom prst="roundRect">
            <a:avLst>
              <a:gd name="adj" fmla="val 9722"/>
            </a:avLst>
          </a:prstGeom>
          <a:solidFill>
            <a:srgbClr val="16213F"/>
          </a:solidFill>
          <a:ln w="10160">
            <a:solidFill>
              <a:srgbClr val="2E40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783080"/>
            <a:ext cx="54864" cy="658368"/>
          </a:xfrm>
          <a:prstGeom prst="rect">
            <a:avLst/>
          </a:prstGeom>
          <a:solidFill>
            <a:srgbClr val="AEB8D2"/>
          </a:solidFill>
          <a:ln w="12700">
            <a:solidFill>
              <a:srgbClr val="AEB8D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9019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L0 观察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834640" y="190195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只读取允许上下文，不主动提示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779008" y="1901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AEB8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状态提示 / 数据源权限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8321040" y="19019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读范围、脱敏、最小上下文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822960" y="2734056"/>
            <a:ext cx="384048" cy="384048"/>
          </a:xfrm>
          <a:prstGeom prst="ellipse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254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25880" y="2624328"/>
            <a:ext cx="10012680" cy="658368"/>
          </a:xfrm>
          <a:prstGeom prst="roundRect">
            <a:avLst>
              <a:gd name="adj" fmla="val 9722"/>
            </a:avLst>
          </a:prstGeom>
          <a:solidFill>
            <a:srgbClr val="16213F"/>
          </a:solidFill>
          <a:ln w="10160">
            <a:solidFill>
              <a:srgbClr val="2E40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2624328"/>
            <a:ext cx="54864" cy="658368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27432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 建议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2834640" y="274320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发现机会，提供解释与行动选项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779008" y="27432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52D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Suggestion Card / Agent Inbox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8321040" y="27432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不写入系统；只生成建议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822960" y="3575304"/>
            <a:ext cx="384048" cy="384048"/>
          </a:xfrm>
          <a:prstGeom prst="ellipse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366674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25880" y="3465576"/>
            <a:ext cx="10012680" cy="658368"/>
          </a:xfrm>
          <a:prstGeom prst="roundRect">
            <a:avLst>
              <a:gd name="adj" fmla="val 9722"/>
            </a:avLst>
          </a:prstGeom>
          <a:solidFill>
            <a:srgbClr val="16213F"/>
          </a:solidFill>
          <a:ln w="10160">
            <a:solidFill>
              <a:srgbClr val="2E40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5880" y="3465576"/>
            <a:ext cx="54864" cy="658368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35844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起草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2834640" y="358444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自动生成草稿，不执行外部写操作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779008" y="358444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6E85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Preview / Compare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8321040" y="358444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草稿可编辑；不发送不发布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822960" y="4416552"/>
            <a:ext cx="384048" cy="384048"/>
          </a:xfrm>
          <a:prstGeom prst="ellipse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50799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25880" y="4306824"/>
            <a:ext cx="10012680" cy="658368"/>
          </a:xfrm>
          <a:prstGeom prst="roundRect">
            <a:avLst>
              <a:gd name="adj" fmla="val 9722"/>
            </a:avLst>
          </a:prstGeom>
          <a:solidFill>
            <a:srgbClr val="16213F"/>
          </a:solidFill>
          <a:ln w="10160">
            <a:solidFill>
              <a:srgbClr val="2E40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5880" y="4306824"/>
            <a:ext cx="54864" cy="658368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81328" y="44256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L3 审批执行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2834640" y="442569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用户确认后调用工具或写入系统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5779008" y="442569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7B2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Preview / Approval Modal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8321040" y="442569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敏感动作二次确认 + 审计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822960" y="5257800"/>
            <a:ext cx="384048" cy="384048"/>
          </a:xfrm>
          <a:prstGeom prst="ellipse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53492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25880" y="5148072"/>
            <a:ext cx="10012680" cy="658368"/>
          </a:xfrm>
          <a:prstGeom prst="roundRect">
            <a:avLst>
              <a:gd name="adj" fmla="val 9722"/>
            </a:avLst>
          </a:prstGeom>
          <a:solidFill>
            <a:srgbClr val="16213F"/>
          </a:solidFill>
          <a:ln w="10160">
            <a:solidFill>
              <a:srgbClr val="2E40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25880" y="5148072"/>
            <a:ext cx="54864" cy="658368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81328" y="52669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L4 条件自动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2834640" y="526694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在白名单规则内执行低风险动作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5779008" y="52669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6B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Autonomy Rules / Activity Timeline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8321040" y="52669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额度、频率、回滚点和通知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822960" y="5925312"/>
            <a:ext cx="10515600" cy="310896"/>
          </a:xfrm>
          <a:prstGeom prst="roundRect">
            <a:avLst>
              <a:gd name="adj" fmla="val 20588"/>
            </a:avLst>
          </a:prstGeom>
          <a:solidFill>
            <a:srgbClr val="22304F"/>
          </a:solidFill>
          <a:ln w="12700">
            <a:solidFill>
              <a:srgbClr val="3146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6025896"/>
            <a:ext cx="10058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E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权限原则：外部影响越大，越要从“生成草稿”转为“显式授权”；不可逆动作默认禁止自动执行。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Risk reference: OWASP LLM06 Excessive Agency.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UI Protocol：后端意图到前端组件的桥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不要让前端解析自然语言；让 Agent Runtime 输出结构化 UI 事件。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50292" cy="86868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175564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规划、工具调用、结果、异常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89120" y="132588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F0F5FF"/>
          </a:solidFill>
          <a:ln w="12700">
            <a:solidFill>
              <a:srgbClr val="C9D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325880"/>
            <a:ext cx="50292" cy="86868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43560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 Protocol Stream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53712" y="17556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typed events + schema + policy metadata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458200" y="132588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1325880"/>
            <a:ext cx="50292" cy="86868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2279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 Renderer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22792" y="175564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卡片、计划、审批、时间线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54680" y="1755648"/>
            <a:ext cx="1188720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40880" y="1755648"/>
            <a:ext cx="1371600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" y="274320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0B1020"/>
          </a:solidFill>
          <a:ln w="12700">
            <a:solidFill>
              <a:srgbClr val="2634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9718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示例事件：SuggestionCreated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310128"/>
            <a:ext cx="46634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8EE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8EE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"type": "suggestion.created",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8EE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"priority": "high",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8EE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"reason": "3 个企业客户反馈集中指向 onboarding",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8EE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"evidence": ["crm:case/103", "feedback:thread/81"],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8EE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"actions": ["view_evidence", "draft_plan", "ignore"],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8EE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"required_permission": "L2_DRAFT_ONLY"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8EE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492240" y="274320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971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推荐事件类型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333756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suggestion.created / dismissed</a:t>
            </a:r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plan.proposed / edited / approved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permission.requested / denied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tool.started / progress / completed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memory.updated / audit.appended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error.raised / rollback.available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6720840" y="53218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好处：前端可预测、状态可恢复、权限可审计、A/B 测试更稳定。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Implementation pattern: typed UI events, not free-form chat parsing.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运行时 UI Surface：把 Agent 行为外显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主动式 Agent 需要一组专门的界面，而不是只靠聊天框。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25880"/>
            <a:ext cx="50292" cy="141732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43560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Suggestion Card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755648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最小主动单元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发现什么、为什么现在、建议行动、证据与控制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325880"/>
            <a:ext cx="50292" cy="141732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43560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Inbox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1755648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机会队列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把低/中优先级建议收纳起来，降低打扰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0" y="13258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325880"/>
            <a:ext cx="50292" cy="141732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43560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Preview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94192" y="1755648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执行前协商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展示步骤、权限、风险、可编辑计划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2960" y="33832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383280"/>
            <a:ext cx="50292" cy="141732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49300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Activity Timeline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813048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执行透明度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展示工具调用、进度、异常、结果和下一步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26280" y="33832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3383280"/>
            <a:ext cx="50292" cy="1417320"/>
          </a:xfrm>
          <a:prstGeom prst="rect">
            <a:avLst/>
          </a:prstGeom>
          <a:solidFill>
            <a:srgbClr val="8BE78B"/>
          </a:solidFill>
          <a:ln w="12700">
            <a:solidFill>
              <a:srgbClr val="8BE78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49300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Center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90872" y="3813048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可审计记忆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查看、编辑、删除 Agent 记住的偏好和规则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0" y="338328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383280"/>
            <a:ext cx="50292" cy="141732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49300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Autonomy Settings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94192" y="3813048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主动性配置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触发条件、自动范围、审批规则和通知频率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58064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技术落点：这些 UI Surface 都应绑定同一套 UI Protocol、Permission Model 与 Audit Event。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Design-time use: generate these as Claude Design patterns before implementation.</a:t>
            </a:r>
            <a:endParaRPr lang="en-US" sz="6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安全与治理：把 Agent 当作“有工具权限的软件系统”防护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主动式 Agent 的核心风险来自 Prompt Injection、Excessive Agency、数据泄露和工具链供应风险。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5029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Injection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41832" y="175564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外部网页、邮件、文档诱导 Agent 偏离系统规则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3520440" y="132588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325880"/>
            <a:ext cx="50292" cy="96012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Excessive Agency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685032" y="175564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工具权限过宽，导致未授权写入/删除/发送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325880"/>
            <a:ext cx="50292" cy="96012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 Leakage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28232" y="175564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上下文或工具输出包含 PII / secrets / 内部资料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9006840" y="132588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1325880"/>
            <a:ext cx="50292" cy="96012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43560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 Supply Chain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171432" y="175564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未验证 MCP server / 插件 / 脚本引入新攻击面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7772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防护架构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352044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16213F"/>
          </a:solidFill>
          <a:ln w="12700">
            <a:solidFill>
              <a:srgbClr val="2E40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520440"/>
            <a:ext cx="50292" cy="128016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36301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Policy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33272" y="3950208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allow/deny/ask 规则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OAuth scope pinning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工具白名单/黑名单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52344" y="4160520"/>
            <a:ext cx="338328" cy="0"/>
          </a:xfrm>
          <a:prstGeom prst="line">
            <a:avLst/>
          </a:prstGeom>
          <a:noFill/>
          <a:ln w="1270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36392" y="352044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16213F"/>
          </a:solidFill>
          <a:ln w="12700">
            <a:solidFill>
              <a:srgbClr val="2E40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36392" y="3520440"/>
            <a:ext cx="50292" cy="128016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36301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00984" y="3950208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输入/输出/工具调用校验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PII/Prompt Injection 扫描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风险分类器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0056" y="4160520"/>
            <a:ext cx="338328" cy="0"/>
          </a:xfrm>
          <a:prstGeom prst="line">
            <a:avLst/>
          </a:prstGeom>
          <a:noFill/>
          <a:ln w="1270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04104" y="352044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16213F"/>
          </a:solidFill>
          <a:ln w="12700">
            <a:solidFill>
              <a:srgbClr val="2E40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04104" y="3520440"/>
            <a:ext cx="50292" cy="128016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68696" y="36301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Sandbox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68696" y="3950208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浏览器/代码执行隔离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网络与文件访问限制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短期凭证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287768" y="4160520"/>
            <a:ext cx="338328" cy="0"/>
          </a:xfrm>
          <a:prstGeom prst="line">
            <a:avLst/>
          </a:prstGeom>
          <a:noFill/>
          <a:ln w="1270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671816" y="352044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16213F"/>
          </a:solidFill>
          <a:ln w="12700">
            <a:solidFill>
              <a:srgbClr val="2E40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71816" y="3520440"/>
            <a:ext cx="50292" cy="128016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36408" y="36301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 Gate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836408" y="3950208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敏感操作审批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Preview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强制二次确认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555480" y="4160520"/>
            <a:ext cx="338328" cy="0"/>
          </a:xfrm>
          <a:prstGeom prst="line">
            <a:avLst/>
          </a:prstGeom>
          <a:noFill/>
          <a:ln w="1270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939528" y="352044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16213F"/>
          </a:solidFill>
          <a:ln w="12700">
            <a:solidFill>
              <a:srgbClr val="2E40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39528" y="3520440"/>
            <a:ext cx="50292" cy="1280160"/>
          </a:xfrm>
          <a:prstGeom prst="rect">
            <a:avLst/>
          </a:prstGeom>
          <a:solidFill>
            <a:srgbClr val="8BE78B"/>
          </a:solidFill>
          <a:ln w="12700">
            <a:solidFill>
              <a:srgbClr val="8BE78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04120" y="36301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104120" y="3950208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trace + tool log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用户决策记录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可回滚快照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68680" y="57424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E8E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治理默认值：外部内容只能作为“不可信上下文”；所有写操作先生成草稿；不可逆动作必须人工审批。</a:t>
            </a:r>
            <a:endParaRPr lang="en-US" sz="1060" dirty="0"/>
          </a:p>
        </p:txBody>
      </p:sp>
      <p:sp>
        <p:nvSpPr>
          <p:cNvPr id="47" name="Shape 45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OWASP LLM01 Prompt Injection; OWASP LLM06 Excessive Agency; NIST AI RMF GenAI Profile.</a:t>
            </a:r>
            <a:endParaRPr lang="en-US" sz="6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Observability &amp; Evaluation：把 Agent 行为变成可运营资产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没有追踪和评估，主动式 Agent 很快会变成不可解释的自动化黑箱。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50292" cy="425196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344168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Trace 维度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1664208"/>
            <a:ext cx="21122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Run / Session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Agent / Subagent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LLM generation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Tool call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Guardrail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Handoff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User decision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Error / rollback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657600" y="123444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234440"/>
            <a:ext cx="50292" cy="425196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134416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质量指标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22192" y="1664208"/>
            <a:ext cx="24323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Opportunity precision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Acceptance rate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Edit distance after draft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Plan approval rate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Tool success rate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Recovery success rate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User trust score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Hallucination / false trigger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858000" y="1234440"/>
            <a:ext cx="2697480" cy="4251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234440"/>
            <a:ext cx="50292" cy="425196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13441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业务指标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22592" y="1664208"/>
            <a:ext cx="23865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Time-to-completion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Manual steps reduced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SLA / risk reduction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Revenue or retention impact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Cost per completed task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Human review burden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Notification fatigue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Automation coverage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9921240" y="1234440"/>
            <a:ext cx="1463040" cy="4251960"/>
          </a:xfrm>
          <a:prstGeom prst="roundRect">
            <a:avLst>
              <a:gd name="adj" fmla="val 5000"/>
            </a:avLst>
          </a:prstGeom>
          <a:solidFill>
            <a:srgbClr val="F0F5FF"/>
          </a:solidFill>
          <a:ln w="12700">
            <a:solidFill>
              <a:srgbClr val="C9D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31552" y="16459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&amp;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149840" y="2743200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每日：异常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每周：效果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每月：策略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季度：权限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评估闭环：trace → label → eval set → regression test → policy update → UX iteration。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OpenAI Agents SDK tracing; Claude Code hooks/lifecycle events.</a:t>
            </a:r>
            <a:endParaRPr lang="en-US" sz="6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数据模型：建议以事件溯源 + 任务状态机为核心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主动式 Agent 的可信赖性来自可重放、可审计、可回滚的数据结构。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22677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50292" cy="123444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4356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Signal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41832" y="1755648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source, payload, trust_level, timestamp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566160" y="1325880"/>
            <a:ext cx="22677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325880"/>
            <a:ext cx="50292" cy="123444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4356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Opportunity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30752" y="1755648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score, reason, evidence_refs, status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22677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325880"/>
            <a:ext cx="50292" cy="123444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4356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Suggestion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9672" y="1755648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ui_type, priority, actions, user_response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9144000" y="1325880"/>
            <a:ext cx="22677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1325880"/>
            <a:ext cx="50292" cy="123444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4356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08592" y="1755648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steps, risks, permissions, editable_fields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77240" y="3291840"/>
            <a:ext cx="22677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291840"/>
            <a:ext cx="50292" cy="1234440"/>
          </a:xfrm>
          <a:prstGeom prst="rect">
            <a:avLst/>
          </a:prstGeom>
          <a:solidFill>
            <a:srgbClr val="8BE78B"/>
          </a:solidFill>
          <a:ln w="12700">
            <a:solidFill>
              <a:srgbClr val="8BE78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40156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ToolCall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1832" y="3721608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tool_id, input_hash, output_ref, status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566160" y="3291840"/>
            <a:ext cx="22677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3291840"/>
            <a:ext cx="50292" cy="123444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340156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30752" y="3721608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scope, value, source, ttl, user_editable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355080" y="3291840"/>
            <a:ext cx="22677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291840"/>
            <a:ext cx="50292" cy="123444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340156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Policy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9672" y="3721608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role, tool, action, autonomy_level, approval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9144000" y="3291840"/>
            <a:ext cx="22677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0" y="3291840"/>
            <a:ext cx="5029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08592" y="340156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AuditEvent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308592" y="3721608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actor, event_type, trace_id, rollback_ref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1920240" y="1965960"/>
            <a:ext cx="1645920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709160" y="1965960"/>
            <a:ext cx="1645920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498080" y="1965960"/>
            <a:ext cx="1645920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920240" y="3931920"/>
            <a:ext cx="1645920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709160" y="3931920"/>
            <a:ext cx="1645920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498080" y="3931920"/>
            <a:ext cx="1645920" cy="0"/>
          </a:xfrm>
          <a:prstGeom prst="line">
            <a:avLst/>
          </a:prstGeom>
          <a:noFill/>
          <a:ln w="1270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77240" y="5504688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EAFBF7"/>
          </a:solidFill>
          <a:ln w="12700">
            <a:solidFill>
              <a:srgbClr val="C1EF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7552" y="5660136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关键实现：所有可见 UI 状态由事件驱动；所有工具调用绑定 trace_id；所有自动化规则可追溯到 Policy。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 design: event-sourced audit trail + state machine per opportunity/plan/tool call.</a:t>
            </a:r>
            <a:endParaRPr lang="en-US" sz="6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MVP 技术示例：主动式产品经理助手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用低风险、可回滚的产品反馈场景验证整套架构。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50292" cy="100584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72768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信号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0392" y="189280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客户反馈 / CRM / Slack / 产品事件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2304288" y="1965960"/>
            <a:ext cx="228600" cy="0"/>
          </a:xfrm>
          <a:prstGeom prst="line">
            <a:avLst/>
          </a:prstGeom>
          <a:noFill/>
          <a:ln w="1270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146304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463040"/>
            <a:ext cx="50292" cy="100584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572768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机会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24912" y="189280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 3 个企业客户集中吐槽 onboarding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4178808" y="1965960"/>
            <a:ext cx="228600" cy="0"/>
          </a:xfrm>
          <a:prstGeom prst="line">
            <a:avLst/>
          </a:prstGeom>
          <a:noFill/>
          <a:ln w="1270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34840" y="146304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463040"/>
            <a:ext cx="50292" cy="100584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572768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建议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9432" y="189280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Suggestion Card 展示证据与影响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053328" y="1965960"/>
            <a:ext cx="228600" cy="0"/>
          </a:xfrm>
          <a:prstGeom prst="line">
            <a:avLst/>
          </a:prstGeom>
          <a:noFill/>
          <a:ln w="1270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146304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463040"/>
            <a:ext cx="50292" cy="100584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1572768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计划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73952" y="189280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生成新版 onboarding flow + PRD 草稿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7927848" y="1965960"/>
            <a:ext cx="228600" cy="0"/>
          </a:xfrm>
          <a:prstGeom prst="line">
            <a:avLst/>
          </a:prstGeom>
          <a:noFill/>
          <a:ln w="1270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83880" y="146304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463040"/>
            <a:ext cx="50292" cy="1005840"/>
          </a:xfrm>
          <a:prstGeom prst="rect">
            <a:avLst/>
          </a:prstGeom>
          <a:solidFill>
            <a:srgbClr val="8BE78B"/>
          </a:solidFill>
          <a:ln w="12700">
            <a:solidFill>
              <a:srgbClr val="8BE78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8472" y="1572768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审批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48472" y="189280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用户批准创建 Linear/Jira ticket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9802368" y="1965960"/>
            <a:ext cx="228600" cy="0"/>
          </a:xfrm>
          <a:prstGeom prst="line">
            <a:avLst/>
          </a:prstGeom>
          <a:noFill/>
          <a:ln w="12700">
            <a:solidFill>
              <a:srgbClr val="A8B3C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0" y="146304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121A33"/>
          </a:solidFill>
          <a:ln w="12700">
            <a:solidFill>
              <a:srgbClr val="2A3B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0" y="1463040"/>
            <a:ext cx="50292" cy="100584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22992" y="1572768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执行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222992" y="189280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 ticket，产出设计 brief，记录审计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822960" y="365760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16213F"/>
          </a:solidFill>
          <a:ln w="12700">
            <a:solidFill>
              <a:srgbClr val="2E40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3657600"/>
            <a:ext cx="50292" cy="114300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MVP 连接器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87552" y="408736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CRM / feedback store / Slack / Linear or Jira / Docs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160520" y="365760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16213F"/>
          </a:solidFill>
          <a:ln w="12700">
            <a:solidFill>
              <a:srgbClr val="2E40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60520" y="3657600"/>
            <a:ext cx="50292" cy="114300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25112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MVP UI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325112" y="408736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Inbox、Suggestion Card、Evidence Panel、Plan Preview、Activity Timeline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7498080" y="365760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16213F"/>
          </a:solidFill>
          <a:ln w="12700">
            <a:solidFill>
              <a:srgbClr val="2E40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3657600"/>
            <a:ext cx="50292" cy="114300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62672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MVP 安全边界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662672" y="408736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8B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只允许读数据与创建草稿；真实写入 ticket 必须审批；禁止自动发邮件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868680" y="57424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8E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MVP 成功判定：建议准确率、PRD 草稿节省时间、审批通过率、误触发率、用户静音率。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Suggested first use case: high-context, low-risk, reversible PM workflow.</a:t>
            </a:r>
            <a:endParaRPr lang="en-US" sz="6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落地路线：从 Pattern Lab 到可运营的主动式 Agent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按风险分层推进，避免一开始就建设过度自治的系统。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2423160" cy="3383280"/>
          </a:xfrm>
          <a:prstGeom prst="roundRect">
            <a:avLst>
              <a:gd name="adj" fmla="val 3019"/>
            </a:avLst>
          </a:prstGeom>
          <a:solidFill>
            <a:srgbClr val="F0FFF9"/>
          </a:solidFill>
          <a:ln w="13970">
            <a:solidFill>
              <a:srgbClr val="52D9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470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2–3 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0392" y="25146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Pattern Lab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30906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Design 原型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 Protocol 草案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权限阶梯定义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27248" y="3246120"/>
            <a:ext cx="374904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38728" y="1600200"/>
            <a:ext cx="2423160" cy="3383280"/>
          </a:xfrm>
          <a:prstGeom prst="roundRect">
            <a:avLst>
              <a:gd name="adj" fmla="val 3019"/>
            </a:avLst>
          </a:prstGeom>
          <a:solidFill>
            <a:srgbClr val="F0F5FF"/>
          </a:solidFill>
          <a:ln w="13970">
            <a:solidFill>
              <a:srgbClr val="6E8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8470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4–6 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MVP Runtime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30906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连接 2–3 个数据源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Opportunity Engine v1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Suggestion + Plan + Approval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0176" y="3246120"/>
            <a:ext cx="374904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91656" y="1600200"/>
            <a:ext cx="2423160" cy="3383280"/>
          </a:xfrm>
          <a:prstGeom prst="roundRect">
            <a:avLst>
              <a:gd name="adj" fmla="val 3019"/>
            </a:avLst>
          </a:prstGeom>
          <a:solidFill>
            <a:srgbClr val="FFF7EA"/>
          </a:solidFill>
          <a:ln w="13970">
            <a:solidFill>
              <a:srgbClr val="F7B2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8470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B4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2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4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6–8 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56248" y="25146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 Execution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56248" y="30906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MCP/API 网关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工具调用审计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Activity Timeline / rollback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33104" y="3246120"/>
            <a:ext cx="374904" cy="0"/>
          </a:xfrm>
          <a:prstGeom prst="line">
            <a:avLst/>
          </a:prstGeom>
          <a:noFill/>
          <a:ln w="15240">
            <a:solidFill>
              <a:srgbClr val="AEB8D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44584" y="1600200"/>
            <a:ext cx="2423160" cy="3383280"/>
          </a:xfrm>
          <a:prstGeom prst="roundRect">
            <a:avLst>
              <a:gd name="adj" fmla="val 3019"/>
            </a:avLst>
          </a:prstGeom>
          <a:solidFill>
            <a:srgbClr val="F6F0FF"/>
          </a:solidFill>
          <a:ln w="13970">
            <a:solidFill>
              <a:srgbClr val="A1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18470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5B37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3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5B37B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09176" y="25146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09176" y="30906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用户反馈学习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评估集/回归测试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 L4 自动化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56875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阶段门槛：每一阶段都要通过安全评审、可用性评审和指标复盘，才开放下一层自主性。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Rollout strategy: design first, limited runtime second, tool execution third, learning/automation last.</a:t>
            </a:r>
            <a:endParaRPr lang="en-US" sz="6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关键技术决策与风险清单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立项前应明确这些选择，否则后续会在权限、数据、模型和产品体验上返工。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4983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50292" cy="960120"/>
          </a:xfrm>
          <a:prstGeom prst="rect">
            <a:avLst/>
          </a:prstGeom>
          <a:solidFill>
            <a:srgbClr val="52D9B8"/>
          </a:solidFill>
          <a:ln w="12700">
            <a:solidFill>
              <a:srgbClr val="52D9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344168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模型与运行时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41832" y="1664208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是否以 Claude Agent SDK 为主，还是采用多模型 Agent Runtime？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446520" y="1234440"/>
            <a:ext cx="4983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234440"/>
            <a:ext cx="50292" cy="96012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344168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工具协议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11112" y="1664208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是否作为统一工具入口？内部工具如何注册与治理？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77240" y="2788920"/>
            <a:ext cx="4983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88920"/>
            <a:ext cx="50292" cy="96012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898648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主动性阈值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1832" y="3218688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机会评分与打扰策略由规则、模型还是学习排序驱动？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446520" y="2788920"/>
            <a:ext cx="4983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788920"/>
            <a:ext cx="50292" cy="960120"/>
          </a:xfrm>
          <a:prstGeom prst="rect">
            <a:avLst/>
          </a:prstGeom>
          <a:solidFill>
            <a:srgbClr val="A17CFF"/>
          </a:solidFill>
          <a:ln w="12700">
            <a:solidFill>
              <a:srgbClr val="A17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898648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记忆治理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11112" y="3218688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哪些偏好可长期记忆？是否支持用户编辑、删除和禁用？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77240" y="4343400"/>
            <a:ext cx="4983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343400"/>
            <a:ext cx="50292" cy="960120"/>
          </a:xfrm>
          <a:prstGeom prst="rect">
            <a:avLst/>
          </a:prstGeom>
          <a:solidFill>
            <a:srgbClr val="8BE78B"/>
          </a:solidFill>
          <a:ln w="12700">
            <a:solidFill>
              <a:srgbClr val="8BE78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453128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权限边界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1832" y="4773168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哪些动作必须审批？哪些动作永远禁止自动执行？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446520" y="4343400"/>
            <a:ext cx="4983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343400"/>
            <a:ext cx="5029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4453128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评估闭环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11112" y="4773168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如何采集 trace、用户反馈、误触发与业务收益？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77240" y="5623560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FFF7EA"/>
          </a:solidFill>
          <a:ln w="12700">
            <a:solidFill>
              <a:srgbClr val="F4D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77900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4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最高风险：没有 UI 权限边界就开放工具执行；没有 trace/audit 就上线主动建议。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6072" y="65105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Decision checklist for architecture review.</a:t>
            </a:r>
            <a:endParaRPr lang="en-US" sz="6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参考资料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795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用于支撑本方案的官方文档、工程文章和安全框架。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Design by Anthropic Labs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4389120" y="11430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https://www.anthropic.com/news/claude-design-anthropic-labs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8092440" y="1143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Design 可生成 prototypes、slides、one-pagers，支持设计系统、导出、handoff。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777240" y="1453896"/>
            <a:ext cx="10561320" cy="0"/>
          </a:xfrm>
          <a:prstGeom prst="line">
            <a:avLst/>
          </a:prstGeom>
          <a:noFill/>
          <a:ln w="4445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556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 MCP Docs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4389120" y="17556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https://code.claude.com/docs/en/mcp</a:t>
            </a:r>
            <a:endParaRPr lang="en-US" sz="630" dirty="0"/>
          </a:p>
        </p:txBody>
      </p:sp>
      <p:sp>
        <p:nvSpPr>
          <p:cNvPr id="11" name="Text 9"/>
          <p:cNvSpPr/>
          <p:nvPr/>
        </p:nvSpPr>
        <p:spPr>
          <a:xfrm>
            <a:off x="8092440" y="175564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工具/资源/提示、OAuth scopes、channels、managed MCP、工具输出限制。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777240" y="2066544"/>
            <a:ext cx="10561320" cy="0"/>
          </a:xfrm>
          <a:prstGeom prst="line">
            <a:avLst/>
          </a:prstGeom>
          <a:noFill/>
          <a:ln w="4445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682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Building agents with Claude Agent SDK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4389120" y="23682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https://claude.com/blog/building-agents-with-the-claude-agent-sdk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8092440" y="23682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harness、工具、上下文工程、subagents、compaction。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77240" y="2679192"/>
            <a:ext cx="10561320" cy="0"/>
          </a:xfrm>
          <a:prstGeom prst="line">
            <a:avLst/>
          </a:prstGeom>
          <a:noFill/>
          <a:ln w="4445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809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 Subagents Docs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389120" y="298094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https://code.claude.com/docs/en/sub-agents</a:t>
            </a:r>
            <a:endParaRPr lang="en-US" sz="630" dirty="0"/>
          </a:p>
        </p:txBody>
      </p:sp>
      <p:sp>
        <p:nvSpPr>
          <p:cNvPr id="19" name="Text 17"/>
          <p:cNvSpPr/>
          <p:nvPr/>
        </p:nvSpPr>
        <p:spPr>
          <a:xfrm>
            <a:off x="8092440" y="298094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 Agent 的隔离上下文、工具限制、自动委派和并行化。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77240" y="3291840"/>
            <a:ext cx="10561320" cy="0"/>
          </a:xfrm>
          <a:prstGeom prst="line">
            <a:avLst/>
          </a:prstGeom>
          <a:noFill/>
          <a:ln w="4445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93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Effective harnesses for long-running agents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4389120" y="3593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https://www.anthropic.com/engineering/effective-harnesses-for-long-running-agents</a:t>
            </a:r>
            <a:endParaRPr lang="en-US" sz="630" dirty="0"/>
          </a:p>
        </p:txBody>
      </p:sp>
      <p:sp>
        <p:nvSpPr>
          <p:cNvPr id="23" name="Text 21"/>
          <p:cNvSpPr/>
          <p:nvPr/>
        </p:nvSpPr>
        <p:spPr>
          <a:xfrm>
            <a:off x="8092440" y="359359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长任务的 feature list、progress file、incremental progress、testing。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777240" y="3904488"/>
            <a:ext cx="10561320" cy="0"/>
          </a:xfrm>
          <a:prstGeom prst="line">
            <a:avLst/>
          </a:prstGeom>
          <a:noFill/>
          <a:ln w="4445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06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OWASP LLM Top 10: Prompt Injection / Excessive Agency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4389120" y="4206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https://genai.owasp.org/llmrisk/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8092440" y="420624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Injection 与过度代理权限风险。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77240" y="4517136"/>
            <a:ext cx="10561320" cy="0"/>
          </a:xfrm>
          <a:prstGeom prst="line">
            <a:avLst/>
          </a:prstGeom>
          <a:noFill/>
          <a:ln w="4445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818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NIST AI RMF: Generative AI Profile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4389120" y="48188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https://www.nist.gov/publications/artificial-intelligence-risk-management-framework-generative-artificial-intelligence</a:t>
            </a:r>
            <a:endParaRPr lang="en-US" sz="630" dirty="0"/>
          </a:p>
        </p:txBody>
      </p:sp>
      <p:sp>
        <p:nvSpPr>
          <p:cNvPr id="31" name="Text 29"/>
          <p:cNvSpPr/>
          <p:nvPr/>
        </p:nvSpPr>
        <p:spPr>
          <a:xfrm>
            <a:off x="8092440" y="481888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 AI 风险管理框架。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77240" y="5129784"/>
            <a:ext cx="10561320" cy="0"/>
          </a:xfrm>
          <a:prstGeom prst="line">
            <a:avLst/>
          </a:prstGeom>
          <a:noFill/>
          <a:ln w="4445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4315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OpenAI Agents SDK: Guardrails / Tracing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4389120" y="543153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8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https://openai.github.io/openai-agents-js/guides/guardrails/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8092440" y="543153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guardrails 与 tracing 作为跨运行时参考。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777240" y="5742432"/>
            <a:ext cx="10561320" cy="0"/>
          </a:xfrm>
          <a:prstGeom prst="line">
            <a:avLst/>
          </a:prstGeom>
          <a:noFill/>
          <a:ln w="4445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6071616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说明：本 PPT 使用公开资料与官方文档作为事实基础；架构设计与实施路线为综合建议，可按你的具体业务和技术栈调整。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928" y="6446520"/>
            <a:ext cx="11045952" cy="0"/>
          </a:xfrm>
          <a:prstGeom prst="line">
            <a:avLst/>
          </a:prstGeom>
          <a:noFill/>
          <a:ln w="6350">
            <a:solidFill>
              <a:srgbClr val="D7DEEA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UI × 主动式 Agent 技术方案</dc:title>
  <dc:subject>Agentic UI 与主动式 Agent 技术方案</dc:subject>
  <dc:creator>OpenAI</dc:creator>
  <cp:lastModifiedBy>OpenAI</cp:lastModifiedBy>
  <cp:revision>1</cp:revision>
  <dcterms:created xsi:type="dcterms:W3CDTF">2026-04-26T15:03:15Z</dcterms:created>
  <dcterms:modified xsi:type="dcterms:W3CDTF">2026-04-26T15:03:15Z</dcterms:modified>
</cp:coreProperties>
</file>